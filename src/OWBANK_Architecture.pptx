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C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5943600" y="-914400"/>
            <a:ext cx="5029200" cy="2743200"/>
          </a:xfrm>
          <a:prstGeom prst="rect">
            <a:avLst/>
          </a:prstGeom>
          <a:solidFill>
            <a:srgbClr val="009DE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-1371600" y="3200400"/>
            <a:ext cx="4572000" cy="2286000"/>
          </a:xfrm>
          <a:prstGeom prst="rect">
            <a:avLst/>
          </a:prstGeom>
          <a:solidFill>
            <a:srgbClr val="001A4A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DE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OWBANK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6D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514600"/>
            <a:ext cx="2286000" cy="0"/>
          </a:xfrm>
          <a:prstGeom prst="line">
            <a:avLst/>
          </a:prstGeom>
          <a:noFill/>
          <a:ln w="25400">
            <a:solidFill>
              <a:srgbClr val="009D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9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· MongoDB · Kafka · Gemini AI · OpenTelemetry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384048" cy="384048"/>
          </a:xfrm>
          <a:prstGeom prst="ellipse">
            <a:avLst/>
          </a:prstGeom>
          <a:solidFill>
            <a:srgbClr val="009DE0">
              <a:alpha val="7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354787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07008" y="3474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Multi-Country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91840" y="3474720"/>
            <a:ext cx="384048" cy="384048"/>
          </a:xfrm>
          <a:prstGeom prst="ellipse">
            <a:avLst/>
          </a:prstGeom>
          <a:solidFill>
            <a:srgbClr val="009DE0">
              <a:alpha val="7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354787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67328" y="3474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by Design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52160" y="3474720"/>
            <a:ext cx="384048" cy="384048"/>
          </a:xfrm>
          <a:prstGeom prst="ellipse">
            <a:avLst/>
          </a:prstGeom>
          <a:solidFill>
            <a:srgbClr val="009DE0">
              <a:alpha val="7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354787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3474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3152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C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OVERVIEW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2743200" cy="320040"/>
          </a:xfrm>
          <a:prstGeom prst="rect">
            <a:avLst/>
          </a:prstGeom>
          <a:solidFill>
            <a:srgbClr val="002C7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87782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841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 (NEXT.JS)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1234440"/>
            <a:ext cx="2743200" cy="2194560"/>
          </a:xfrm>
          <a:prstGeom prst="rect">
            <a:avLst/>
          </a:prstGeom>
          <a:solidFill>
            <a:srgbClr val="F0F0F0"/>
          </a:solidFill>
          <a:ln w="9525">
            <a:solidFill>
              <a:srgbClr val="DADAD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5488" y="1353312"/>
            <a:ext cx="91440" cy="91440"/>
          </a:xfrm>
          <a:prstGeom prst="ellipse">
            <a:avLst/>
          </a:prstGeom>
          <a:solidFill>
            <a:srgbClr val="002C77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2984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/api/auth/*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993392" y="129844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&amp; Credentials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75488" y="1586484"/>
            <a:ext cx="91440" cy="91440"/>
          </a:xfrm>
          <a:prstGeom prst="ellipse">
            <a:avLst/>
          </a:prstGeom>
          <a:solidFill>
            <a:srgbClr val="009DE0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15316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/api/accounts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993392" y="153162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List, Update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475488" y="1819656"/>
            <a:ext cx="91440" cy="91440"/>
          </a:xfrm>
          <a:prstGeom prst="ellipse">
            <a:avLst/>
          </a:prstGeom>
          <a:solidFill>
            <a:srgbClr val="009DE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17647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/api/transactions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993392" y="17647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&amp; History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75488" y="2052828"/>
            <a:ext cx="91440" cy="91440"/>
          </a:xfrm>
          <a:prstGeom prst="ellipse">
            <a:avLst/>
          </a:prstGeom>
          <a:solidFill>
            <a:srgbClr val="009DE0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19979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/api/cards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993392" y="19979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Apply, Freeze, List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75488" y="2286000"/>
            <a:ext cx="91440" cy="91440"/>
          </a:xfrm>
          <a:prstGeom prst="ellipse">
            <a:avLst/>
          </a:prstGeom>
          <a:solidFill>
            <a:srgbClr val="009DE0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" y="22311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/api/loans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993392" y="2231136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&amp; Disburse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475488" y="2519172"/>
            <a:ext cx="91440" cy="91440"/>
          </a:xfrm>
          <a:prstGeom prst="ellipse">
            <a:avLst/>
          </a:prstGeom>
          <a:solidFill>
            <a:srgbClr val="FBAE40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" y="24643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/api/ai/chat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993392" y="246430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Banking Assistant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75488" y="2752344"/>
            <a:ext cx="91440" cy="91440"/>
          </a:xfrm>
          <a:prstGeom prst="ellipse">
            <a:avLst/>
          </a:prstGeom>
          <a:solidFill>
            <a:srgbClr val="FBAE40"/>
          </a:solidFill>
          <a:ln/>
        </p:spPr>
      </p:sp>
      <p:sp>
        <p:nvSpPr>
          <p:cNvPr id="27" name="Text 24"/>
          <p:cNvSpPr/>
          <p:nvPr/>
        </p:nvSpPr>
        <p:spPr>
          <a:xfrm>
            <a:off x="621792" y="2697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/api/ai/onboard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1993392" y="26974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75488" y="2985516"/>
            <a:ext cx="91440" cy="91440"/>
          </a:xfrm>
          <a:prstGeom prst="ellipse">
            <a:avLst/>
          </a:prstGeom>
          <a:solidFill>
            <a:srgbClr val="00AC41"/>
          </a:solidFill>
          <a:ln/>
        </p:spPr>
      </p:sp>
      <p:sp>
        <p:nvSpPr>
          <p:cNvPr id="30" name="Text 27"/>
          <p:cNvSpPr/>
          <p:nvPr/>
        </p:nvSpPr>
        <p:spPr>
          <a:xfrm>
            <a:off x="621792" y="29306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/api/kafka/consumer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1993392" y="293065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Bootstrap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475488" y="3218688"/>
            <a:ext cx="91440" cy="91440"/>
          </a:xfrm>
          <a:prstGeom prst="ellipse">
            <a:avLst/>
          </a:prstGeom>
          <a:solidFill>
            <a:srgbClr val="00AC41"/>
          </a:solidFill>
          <a:ln/>
        </p:spPr>
      </p:sp>
      <p:sp>
        <p:nvSpPr>
          <p:cNvPr id="33" name="Text 30"/>
          <p:cNvSpPr/>
          <p:nvPr/>
        </p:nvSpPr>
        <p:spPr>
          <a:xfrm>
            <a:off x="621792" y="31638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/api/metrics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993392" y="316382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Endpoint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457200" y="3529584"/>
            <a:ext cx="91440" cy="91440"/>
          </a:xfrm>
          <a:prstGeom prst="ellipse">
            <a:avLst/>
          </a:prstGeom>
          <a:solidFill>
            <a:srgbClr val="009DE0"/>
          </a:solidFill>
          <a:ln/>
        </p:spPr>
      </p:sp>
      <p:sp>
        <p:nvSpPr>
          <p:cNvPr id="36" name="Text 33"/>
          <p:cNvSpPr/>
          <p:nvPr/>
        </p:nvSpPr>
        <p:spPr>
          <a:xfrm>
            <a:off x="585216" y="34930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1371600" y="3529584"/>
            <a:ext cx="91440" cy="91440"/>
          </a:xfrm>
          <a:prstGeom prst="ellipse">
            <a:avLst/>
          </a:prstGeom>
          <a:solidFill>
            <a:srgbClr val="FBAE40"/>
          </a:solidFill>
          <a:ln/>
        </p:spPr>
      </p:sp>
      <p:sp>
        <p:nvSpPr>
          <p:cNvPr id="38" name="Text 35"/>
          <p:cNvSpPr/>
          <p:nvPr/>
        </p:nvSpPr>
        <p:spPr>
          <a:xfrm>
            <a:off x="1499616" y="34930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AI/Chat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2286000" y="3529584"/>
            <a:ext cx="91440" cy="91440"/>
          </a:xfrm>
          <a:prstGeom prst="ellipse">
            <a:avLst/>
          </a:prstGeom>
          <a:solidFill>
            <a:srgbClr val="00AC41"/>
          </a:solidFill>
          <a:ln/>
        </p:spPr>
      </p:sp>
      <p:sp>
        <p:nvSpPr>
          <p:cNvPr id="40" name="Text 37"/>
          <p:cNvSpPr/>
          <p:nvPr/>
        </p:nvSpPr>
        <p:spPr>
          <a:xfrm>
            <a:off x="2414016" y="34930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3246120" y="841248"/>
            <a:ext cx="2743200" cy="320040"/>
          </a:xfrm>
          <a:prstGeom prst="rect">
            <a:avLst/>
          </a:prstGeom>
          <a:solidFill>
            <a:srgbClr val="00AC41"/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877824"/>
            <a:ext cx="201168" cy="201168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3566160" y="8412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EVENT STREAMING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3246120" y="123444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3383280" y="1389888"/>
            <a:ext cx="658368" cy="457200"/>
          </a:xfrm>
          <a:prstGeom prst="rect">
            <a:avLst/>
          </a:prstGeom>
          <a:solidFill>
            <a:srgbClr val="009DE0"/>
          </a:solidFill>
          <a:ln/>
        </p:spPr>
      </p:sp>
      <p:sp>
        <p:nvSpPr>
          <p:cNvPr id="46" name="Text 42"/>
          <p:cNvSpPr/>
          <p:nvPr/>
        </p:nvSpPr>
        <p:spPr>
          <a:xfrm>
            <a:off x="3383280" y="1389888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API</a:t>
            </a:r>
            <a:endParaRPr lang="en-US" sz="700" dirty="0"/>
          </a:p>
        </p:txBody>
      </p:sp>
      <p:sp>
        <p:nvSpPr>
          <p:cNvPr id="47" name="Shape 43"/>
          <p:cNvSpPr/>
          <p:nvPr/>
        </p:nvSpPr>
        <p:spPr>
          <a:xfrm>
            <a:off x="4041648" y="1618488"/>
            <a:ext cx="164592" cy="0"/>
          </a:xfrm>
          <a:prstGeom prst="line">
            <a:avLst/>
          </a:prstGeom>
          <a:noFill/>
          <a:ln w="19050">
            <a:solidFill>
              <a:srgbClr val="565656"/>
            </a:solidFill>
            <a:prstDash val="solid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4206240" y="1389888"/>
            <a:ext cx="548640" cy="457200"/>
          </a:xfrm>
          <a:prstGeom prst="rect">
            <a:avLst/>
          </a:prstGeom>
          <a:solidFill>
            <a:srgbClr val="002C77"/>
          </a:solidFill>
          <a:ln/>
        </p:spPr>
      </p:sp>
      <p:sp>
        <p:nvSpPr>
          <p:cNvPr id="49" name="Text 45"/>
          <p:cNvSpPr/>
          <p:nvPr/>
        </p:nvSpPr>
        <p:spPr>
          <a:xfrm>
            <a:off x="4206240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700" dirty="0"/>
          </a:p>
        </p:txBody>
      </p:sp>
      <p:sp>
        <p:nvSpPr>
          <p:cNvPr id="50" name="Shape 46"/>
          <p:cNvSpPr/>
          <p:nvPr/>
        </p:nvSpPr>
        <p:spPr>
          <a:xfrm>
            <a:off x="4754880" y="1618488"/>
            <a:ext cx="155448" cy="0"/>
          </a:xfrm>
          <a:prstGeom prst="line">
            <a:avLst/>
          </a:prstGeom>
          <a:noFill/>
          <a:ln w="19050">
            <a:solidFill>
              <a:srgbClr val="565656"/>
            </a:solidFill>
            <a:prstDash val="solid"/>
            <a:tailEnd type="triangle"/>
          </a:ln>
        </p:spPr>
      </p:sp>
      <p:sp>
        <p:nvSpPr>
          <p:cNvPr id="51" name="Shape 47"/>
          <p:cNvSpPr/>
          <p:nvPr/>
        </p:nvSpPr>
        <p:spPr>
          <a:xfrm>
            <a:off x="4910328" y="1389888"/>
            <a:ext cx="640080" cy="457200"/>
          </a:xfrm>
          <a:prstGeom prst="rect">
            <a:avLst/>
          </a:prstGeom>
          <a:solidFill>
            <a:srgbClr val="275D38"/>
          </a:solidFill>
          <a:ln/>
        </p:spPr>
      </p:sp>
      <p:sp>
        <p:nvSpPr>
          <p:cNvPr id="52" name="Text 48"/>
          <p:cNvSpPr/>
          <p:nvPr/>
        </p:nvSpPr>
        <p:spPr>
          <a:xfrm>
            <a:off x="4910328" y="1389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owbank-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5550408" y="1618488"/>
            <a:ext cx="146304" cy="0"/>
          </a:xfrm>
          <a:prstGeom prst="line">
            <a:avLst/>
          </a:prstGeom>
          <a:noFill/>
          <a:ln w="19050">
            <a:solidFill>
              <a:srgbClr val="565656"/>
            </a:solidFill>
            <a:prstDash val="solid"/>
            <a:tailEnd type="triangle"/>
          </a:ln>
        </p:spPr>
      </p:sp>
      <p:sp>
        <p:nvSpPr>
          <p:cNvPr id="54" name="Shape 50"/>
          <p:cNvSpPr/>
          <p:nvPr/>
        </p:nvSpPr>
        <p:spPr>
          <a:xfrm>
            <a:off x="5696712" y="1389888"/>
            <a:ext cx="201168" cy="457200"/>
          </a:xfrm>
          <a:prstGeom prst="rect">
            <a:avLst/>
          </a:prstGeom>
          <a:solidFill>
            <a:srgbClr val="002C77"/>
          </a:solidFill>
          <a:ln/>
        </p:spPr>
      </p:sp>
      <p:sp>
        <p:nvSpPr>
          <p:cNvPr id="55" name="Shape 51"/>
          <p:cNvSpPr/>
          <p:nvPr/>
        </p:nvSpPr>
        <p:spPr>
          <a:xfrm>
            <a:off x="3383280" y="2011680"/>
            <a:ext cx="1188720" cy="201168"/>
          </a:xfrm>
          <a:prstGeom prst="rect">
            <a:avLst/>
          </a:prstGeom>
          <a:solidFill>
            <a:srgbClr val="009DE0"/>
          </a:solidFill>
          <a:ln/>
        </p:spPr>
      </p:sp>
      <p:sp>
        <p:nvSpPr>
          <p:cNvPr id="56" name="Text 52"/>
          <p:cNvSpPr/>
          <p:nvPr/>
        </p:nvSpPr>
        <p:spPr>
          <a:xfrm>
            <a:off x="3383280" y="20116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TRANSFER_INITIATED</a:t>
            </a:r>
            <a:endParaRPr lang="en-US" sz="600" dirty="0"/>
          </a:p>
        </p:txBody>
      </p:sp>
      <p:sp>
        <p:nvSpPr>
          <p:cNvPr id="57" name="Text 53"/>
          <p:cNvSpPr/>
          <p:nvPr/>
        </p:nvSpPr>
        <p:spPr>
          <a:xfrm>
            <a:off x="4636008" y="20116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before DB commit</a:t>
            </a:r>
            <a:endParaRPr lang="en-US" sz="650" dirty="0"/>
          </a:p>
        </p:txBody>
      </p:sp>
      <p:sp>
        <p:nvSpPr>
          <p:cNvPr id="58" name="Shape 54"/>
          <p:cNvSpPr/>
          <p:nvPr/>
        </p:nvSpPr>
        <p:spPr>
          <a:xfrm>
            <a:off x="3383280" y="2258568"/>
            <a:ext cx="1188720" cy="201168"/>
          </a:xfrm>
          <a:prstGeom prst="rect">
            <a:avLst/>
          </a:prstGeom>
          <a:solidFill>
            <a:srgbClr val="00AC41"/>
          </a:solidFill>
          <a:ln/>
        </p:spPr>
      </p:sp>
      <p:sp>
        <p:nvSpPr>
          <p:cNvPr id="59" name="Text 55"/>
          <p:cNvSpPr/>
          <p:nvPr/>
        </p:nvSpPr>
        <p:spPr>
          <a:xfrm>
            <a:off x="3383280" y="22585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TRANSFER_COMPLETED</a:t>
            </a:r>
            <a:endParaRPr lang="en-US" sz="600" dirty="0"/>
          </a:p>
        </p:txBody>
      </p:sp>
      <p:sp>
        <p:nvSpPr>
          <p:cNvPr id="60" name="Text 56"/>
          <p:cNvSpPr/>
          <p:nvPr/>
        </p:nvSpPr>
        <p:spPr>
          <a:xfrm>
            <a:off x="4636008" y="22585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after atomic TX</a:t>
            </a:r>
            <a:endParaRPr lang="en-US" sz="650" dirty="0"/>
          </a:p>
        </p:txBody>
      </p:sp>
      <p:sp>
        <p:nvSpPr>
          <p:cNvPr id="61" name="Shape 57"/>
          <p:cNvSpPr/>
          <p:nvPr/>
        </p:nvSpPr>
        <p:spPr>
          <a:xfrm>
            <a:off x="3383280" y="2505456"/>
            <a:ext cx="1188720" cy="201168"/>
          </a:xfrm>
          <a:prstGeom prst="rect">
            <a:avLst/>
          </a:prstGeom>
          <a:solidFill>
            <a:srgbClr val="EF4E45"/>
          </a:solidFill>
          <a:ln/>
        </p:spPr>
      </p:sp>
      <p:sp>
        <p:nvSpPr>
          <p:cNvPr id="62" name="Text 58"/>
          <p:cNvSpPr/>
          <p:nvPr/>
        </p:nvSpPr>
        <p:spPr>
          <a:xfrm>
            <a:off x="3383280" y="25054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TRANSFER_FAILED</a:t>
            </a:r>
            <a:endParaRPr lang="en-US" sz="600" dirty="0"/>
          </a:p>
        </p:txBody>
      </p:sp>
      <p:sp>
        <p:nvSpPr>
          <p:cNvPr id="63" name="Text 59"/>
          <p:cNvSpPr/>
          <p:nvPr/>
        </p:nvSpPr>
        <p:spPr>
          <a:xfrm>
            <a:off x="4636008" y="25054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on error rollback</a:t>
            </a:r>
            <a:endParaRPr lang="en-US" sz="650" dirty="0"/>
          </a:p>
        </p:txBody>
      </p:sp>
      <p:sp>
        <p:nvSpPr>
          <p:cNvPr id="64" name="Shape 60"/>
          <p:cNvSpPr/>
          <p:nvPr/>
        </p:nvSpPr>
        <p:spPr>
          <a:xfrm>
            <a:off x="3246120" y="2880360"/>
            <a:ext cx="2743200" cy="320040"/>
          </a:xfrm>
          <a:prstGeom prst="rect">
            <a:avLst/>
          </a:prstGeom>
          <a:solidFill>
            <a:srgbClr val="FBAE40"/>
          </a:solidFill>
          <a:ln/>
        </p:spPr>
      </p:sp>
      <p:pic>
        <p:nvPicPr>
          <p:cNvPr id="6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2916936"/>
            <a:ext cx="201168" cy="201168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356616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&amp; MESSAGING LAYER</a:t>
            </a:r>
            <a:endParaRPr lang="en-US" sz="1000" dirty="0"/>
          </a:p>
        </p:txBody>
      </p:sp>
      <p:sp>
        <p:nvSpPr>
          <p:cNvPr id="67" name="Shape 62"/>
          <p:cNvSpPr/>
          <p:nvPr/>
        </p:nvSpPr>
        <p:spPr>
          <a:xfrm>
            <a:off x="3246120" y="3273552"/>
            <a:ext cx="27432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8" name="Shape 63"/>
          <p:cNvSpPr/>
          <p:nvPr/>
        </p:nvSpPr>
        <p:spPr>
          <a:xfrm>
            <a:off x="3383280" y="3364992"/>
            <a:ext cx="274320" cy="274320"/>
          </a:xfrm>
          <a:prstGeom prst="ellipse">
            <a:avLst/>
          </a:prstGeom>
          <a:solidFill>
            <a:srgbClr val="002C77"/>
          </a:solidFill>
          <a:ln/>
        </p:spPr>
      </p:sp>
      <p:pic>
        <p:nvPicPr>
          <p:cNvPr id="6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3419856"/>
            <a:ext cx="164592" cy="164592"/>
          </a:xfrm>
          <a:prstGeom prst="rect">
            <a:avLst/>
          </a:prstGeom>
        </p:spPr>
      </p:pic>
      <p:sp>
        <p:nvSpPr>
          <p:cNvPr id="70" name="Text 64"/>
          <p:cNvSpPr/>
          <p:nvPr/>
        </p:nvSpPr>
        <p:spPr>
          <a:xfrm>
            <a:off x="3721608" y="33467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Messages</a:t>
            </a:r>
            <a:endParaRPr lang="en-US" sz="800" dirty="0"/>
          </a:p>
        </p:txBody>
      </p:sp>
      <p:sp>
        <p:nvSpPr>
          <p:cNvPr id="71" name="Text 65"/>
          <p:cNvSpPr/>
          <p:nvPr/>
        </p:nvSpPr>
        <p:spPr>
          <a:xfrm>
            <a:off x="4636008" y="33467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via Gemini 2.0 Flash</a:t>
            </a:r>
            <a:endParaRPr lang="en-US" sz="700" dirty="0"/>
          </a:p>
        </p:txBody>
      </p:sp>
      <p:sp>
        <p:nvSpPr>
          <p:cNvPr id="72" name="Shape 66"/>
          <p:cNvSpPr/>
          <p:nvPr/>
        </p:nvSpPr>
        <p:spPr>
          <a:xfrm>
            <a:off x="3383280" y="3712464"/>
            <a:ext cx="274320" cy="274320"/>
          </a:xfrm>
          <a:prstGeom prst="ellipse">
            <a:avLst/>
          </a:prstGeom>
          <a:solidFill>
            <a:srgbClr val="002C77"/>
          </a:solidFill>
          <a:ln/>
        </p:spPr>
      </p:sp>
      <p:pic>
        <p:nvPicPr>
          <p:cNvPr id="7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767328"/>
            <a:ext cx="164592" cy="164592"/>
          </a:xfrm>
          <a:prstGeom prst="rect">
            <a:avLst/>
          </a:prstGeom>
        </p:spPr>
      </p:pic>
      <p:sp>
        <p:nvSpPr>
          <p:cNvPr id="74" name="Text 67"/>
          <p:cNvSpPr/>
          <p:nvPr/>
        </p:nvSpPr>
        <p:spPr>
          <a:xfrm>
            <a:off x="3721608" y="36941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800" dirty="0"/>
          </a:p>
        </p:txBody>
      </p:sp>
      <p:sp>
        <p:nvSpPr>
          <p:cNvPr id="75" name="Text 68"/>
          <p:cNvSpPr/>
          <p:nvPr/>
        </p:nvSpPr>
        <p:spPr>
          <a:xfrm>
            <a:off x="4636008" y="36941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inline + AI vision</a:t>
            </a:r>
            <a:endParaRPr lang="en-US" sz="700" dirty="0"/>
          </a:p>
        </p:txBody>
      </p:sp>
      <p:sp>
        <p:nvSpPr>
          <p:cNvPr id="76" name="Shape 69"/>
          <p:cNvSpPr/>
          <p:nvPr/>
        </p:nvSpPr>
        <p:spPr>
          <a:xfrm>
            <a:off x="3383280" y="4059936"/>
            <a:ext cx="274320" cy="274320"/>
          </a:xfrm>
          <a:prstGeom prst="ellipse">
            <a:avLst/>
          </a:prstGeom>
          <a:solidFill>
            <a:srgbClr val="002C77"/>
          </a:solidFill>
          <a:ln/>
        </p:spPr>
      </p:sp>
      <p:pic>
        <p:nvPicPr>
          <p:cNvPr id="7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4114800"/>
            <a:ext cx="164592" cy="164592"/>
          </a:xfrm>
          <a:prstGeom prst="rect">
            <a:avLst/>
          </a:prstGeom>
        </p:spPr>
      </p:pic>
      <p:sp>
        <p:nvSpPr>
          <p:cNvPr id="78" name="Text 70"/>
          <p:cNvSpPr/>
          <p:nvPr/>
        </p:nvSpPr>
        <p:spPr>
          <a:xfrm>
            <a:off x="3721608" y="40416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(Future)</a:t>
            </a:r>
            <a:endParaRPr lang="en-US" sz="800" dirty="0"/>
          </a:p>
        </p:txBody>
      </p:sp>
      <p:sp>
        <p:nvSpPr>
          <p:cNvPr id="79" name="Text 71"/>
          <p:cNvSpPr/>
          <p:nvPr/>
        </p:nvSpPr>
        <p:spPr>
          <a:xfrm>
            <a:off x="4636008" y="40416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speech-to-text</a:t>
            </a:r>
            <a:endParaRPr lang="en-US" sz="700" dirty="0"/>
          </a:p>
        </p:txBody>
      </p:sp>
      <p:sp>
        <p:nvSpPr>
          <p:cNvPr id="80" name="Shape 72"/>
          <p:cNvSpPr/>
          <p:nvPr/>
        </p:nvSpPr>
        <p:spPr>
          <a:xfrm>
            <a:off x="3383280" y="4407408"/>
            <a:ext cx="2468880" cy="2011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81" name="Text 73"/>
          <p:cNvSpPr/>
          <p:nvPr/>
        </p:nvSpPr>
        <p:spPr>
          <a:xfrm>
            <a:off x="3429000" y="440740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2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Actions: GET_BALANCE · TRANSFER · APPLY_CC · LOAN_CHECK</a:t>
            </a:r>
            <a:endParaRPr lang="en-US" sz="600" dirty="0"/>
          </a:p>
        </p:txBody>
      </p:sp>
      <p:sp>
        <p:nvSpPr>
          <p:cNvPr id="82" name="Shape 74"/>
          <p:cNvSpPr/>
          <p:nvPr/>
        </p:nvSpPr>
        <p:spPr>
          <a:xfrm>
            <a:off x="6126480" y="841248"/>
            <a:ext cx="2743200" cy="320040"/>
          </a:xfrm>
          <a:prstGeom prst="rect">
            <a:avLst/>
          </a:prstGeom>
          <a:solidFill>
            <a:srgbClr val="002C77"/>
          </a:solidFill>
          <a:ln/>
        </p:spPr>
      </p:sp>
      <p:pic>
        <p:nvPicPr>
          <p:cNvPr id="8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9632" y="877824"/>
            <a:ext cx="201168" cy="201168"/>
          </a:xfrm>
          <a:prstGeom prst="rect">
            <a:avLst/>
          </a:prstGeom>
        </p:spPr>
      </p:pic>
      <p:sp>
        <p:nvSpPr>
          <p:cNvPr id="84" name="Text 75"/>
          <p:cNvSpPr/>
          <p:nvPr/>
        </p:nvSpPr>
        <p:spPr>
          <a:xfrm>
            <a:off x="6446520" y="8412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– SINGLE SOURCE OF TRUTH</a:t>
            </a:r>
            <a:endParaRPr lang="en-US" sz="900" dirty="0"/>
          </a:p>
        </p:txBody>
      </p:sp>
      <p:sp>
        <p:nvSpPr>
          <p:cNvPr id="85" name="Shape 76"/>
          <p:cNvSpPr/>
          <p:nvPr/>
        </p:nvSpPr>
        <p:spPr>
          <a:xfrm>
            <a:off x="6126480" y="1234440"/>
            <a:ext cx="274320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6" name="Shape 77"/>
          <p:cNvSpPr/>
          <p:nvPr/>
        </p:nvSpPr>
        <p:spPr>
          <a:xfrm>
            <a:off x="6236208" y="1316736"/>
            <a:ext cx="54864" cy="310896"/>
          </a:xfrm>
          <a:prstGeom prst="rect">
            <a:avLst/>
          </a:prstGeom>
          <a:solidFill>
            <a:srgbClr val="002C77"/>
          </a:solidFill>
          <a:ln/>
        </p:spPr>
      </p:sp>
      <p:sp>
        <p:nvSpPr>
          <p:cNvPr id="87" name="Text 78"/>
          <p:cNvSpPr/>
          <p:nvPr/>
        </p:nvSpPr>
        <p:spPr>
          <a:xfrm>
            <a:off x="6355080" y="13167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50" dirty="0"/>
          </a:p>
        </p:txBody>
      </p:sp>
      <p:sp>
        <p:nvSpPr>
          <p:cNvPr id="88" name="Text 79"/>
          <p:cNvSpPr/>
          <p:nvPr/>
        </p:nvSpPr>
        <p:spPr>
          <a:xfrm>
            <a:off x="7132320" y="13167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name, googleId, hasAccount</a:t>
            </a:r>
            <a:endParaRPr lang="en-US" sz="650" dirty="0"/>
          </a:p>
        </p:txBody>
      </p:sp>
      <p:sp>
        <p:nvSpPr>
          <p:cNvPr id="89" name="Shape 80"/>
          <p:cNvSpPr/>
          <p:nvPr/>
        </p:nvSpPr>
        <p:spPr>
          <a:xfrm>
            <a:off x="6236208" y="1682496"/>
            <a:ext cx="54864" cy="310896"/>
          </a:xfrm>
          <a:prstGeom prst="rect">
            <a:avLst/>
          </a:prstGeom>
          <a:solidFill>
            <a:srgbClr val="009DE0"/>
          </a:solidFill>
          <a:ln/>
        </p:spPr>
      </p:sp>
      <p:sp>
        <p:nvSpPr>
          <p:cNvPr id="90" name="Text 81"/>
          <p:cNvSpPr/>
          <p:nvPr/>
        </p:nvSpPr>
        <p:spPr>
          <a:xfrm>
            <a:off x="6355080" y="168249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850" dirty="0"/>
          </a:p>
        </p:txBody>
      </p:sp>
      <p:sp>
        <p:nvSpPr>
          <p:cNvPr id="91" name="Text 82"/>
          <p:cNvSpPr/>
          <p:nvPr/>
        </p:nvSpPr>
        <p:spPr>
          <a:xfrm>
            <a:off x="7132320" y="16824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accountNumber, balance, currency, status, KYC</a:t>
            </a:r>
            <a:endParaRPr lang="en-US" sz="650" dirty="0"/>
          </a:p>
        </p:txBody>
      </p:sp>
      <p:sp>
        <p:nvSpPr>
          <p:cNvPr id="92" name="Shape 83"/>
          <p:cNvSpPr/>
          <p:nvPr/>
        </p:nvSpPr>
        <p:spPr>
          <a:xfrm>
            <a:off x="6236208" y="2048256"/>
            <a:ext cx="54864" cy="310896"/>
          </a:xfrm>
          <a:prstGeom prst="rect">
            <a:avLst/>
          </a:prstGeom>
          <a:solidFill>
            <a:srgbClr val="00AC41"/>
          </a:solidFill>
          <a:ln/>
        </p:spPr>
      </p:sp>
      <p:sp>
        <p:nvSpPr>
          <p:cNvPr id="93" name="Text 84"/>
          <p:cNvSpPr/>
          <p:nvPr/>
        </p:nvSpPr>
        <p:spPr>
          <a:xfrm>
            <a:off x="6355080" y="204825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850" dirty="0"/>
          </a:p>
        </p:txBody>
      </p:sp>
      <p:sp>
        <p:nvSpPr>
          <p:cNvPr id="94" name="Text 85"/>
          <p:cNvSpPr/>
          <p:nvPr/>
        </p:nvSpPr>
        <p:spPr>
          <a:xfrm>
            <a:off x="7132320" y="20482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reference, amount, type, kafkaOffset</a:t>
            </a:r>
            <a:endParaRPr lang="en-US" sz="650" dirty="0"/>
          </a:p>
        </p:txBody>
      </p:sp>
      <p:sp>
        <p:nvSpPr>
          <p:cNvPr id="95" name="Shape 86"/>
          <p:cNvSpPr/>
          <p:nvPr/>
        </p:nvSpPr>
        <p:spPr>
          <a:xfrm>
            <a:off x="6236208" y="2414016"/>
            <a:ext cx="54864" cy="310896"/>
          </a:xfrm>
          <a:prstGeom prst="rect">
            <a:avLst/>
          </a:prstGeom>
          <a:solidFill>
            <a:srgbClr val="FBAE40"/>
          </a:solidFill>
          <a:ln/>
        </p:spPr>
      </p:sp>
      <p:sp>
        <p:nvSpPr>
          <p:cNvPr id="96" name="Text 87"/>
          <p:cNvSpPr/>
          <p:nvPr/>
        </p:nvSpPr>
        <p:spPr>
          <a:xfrm>
            <a:off x="6355080" y="241401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850" dirty="0"/>
          </a:p>
        </p:txBody>
      </p:sp>
      <p:sp>
        <p:nvSpPr>
          <p:cNvPr id="97" name="Text 88"/>
          <p:cNvSpPr/>
          <p:nvPr/>
        </p:nvSpPr>
        <p:spPr>
          <a:xfrm>
            <a:off x="7132320" y="241401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cardNumber, type, creditLimit, status, CVV</a:t>
            </a:r>
            <a:endParaRPr lang="en-US" sz="650" dirty="0"/>
          </a:p>
        </p:txBody>
      </p:sp>
      <p:sp>
        <p:nvSpPr>
          <p:cNvPr id="98" name="Shape 89"/>
          <p:cNvSpPr/>
          <p:nvPr/>
        </p:nvSpPr>
        <p:spPr>
          <a:xfrm>
            <a:off x="6236208" y="2779776"/>
            <a:ext cx="54864" cy="310896"/>
          </a:xfrm>
          <a:prstGeom prst="rect">
            <a:avLst/>
          </a:prstGeom>
          <a:solidFill>
            <a:srgbClr val="EF4E45"/>
          </a:solidFill>
          <a:ln/>
        </p:spPr>
      </p:sp>
      <p:sp>
        <p:nvSpPr>
          <p:cNvPr id="99" name="Text 90"/>
          <p:cNvSpPr/>
          <p:nvPr/>
        </p:nvSpPr>
        <p:spPr>
          <a:xfrm>
            <a:off x="6355080" y="277977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850" dirty="0"/>
          </a:p>
        </p:txBody>
      </p:sp>
      <p:sp>
        <p:nvSpPr>
          <p:cNvPr id="100" name="Text 91"/>
          <p:cNvSpPr/>
          <p:nvPr/>
        </p:nvSpPr>
        <p:spPr>
          <a:xfrm>
            <a:off x="7132320" y="27797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EMI, tenure, creditScore, status</a:t>
            </a:r>
            <a:endParaRPr lang="en-US" sz="650" dirty="0"/>
          </a:p>
        </p:txBody>
      </p:sp>
      <p:sp>
        <p:nvSpPr>
          <p:cNvPr id="101" name="Shape 92"/>
          <p:cNvSpPr/>
          <p:nvPr/>
        </p:nvSpPr>
        <p:spPr>
          <a:xfrm>
            <a:off x="6236208" y="3145536"/>
            <a:ext cx="54864" cy="310896"/>
          </a:xfrm>
          <a:prstGeom prst="rect">
            <a:avLst/>
          </a:prstGeom>
          <a:solidFill>
            <a:srgbClr val="565656"/>
          </a:solidFill>
          <a:ln/>
        </p:spPr>
      </p:sp>
      <p:sp>
        <p:nvSpPr>
          <p:cNvPr id="102" name="Text 93"/>
          <p:cNvSpPr/>
          <p:nvPr/>
        </p:nvSpPr>
        <p:spPr>
          <a:xfrm>
            <a:off x="6355080" y="31455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ChatHistory</a:t>
            </a:r>
            <a:endParaRPr lang="en-US" sz="850" dirty="0"/>
          </a:p>
        </p:txBody>
      </p:sp>
      <p:sp>
        <p:nvSpPr>
          <p:cNvPr id="103" name="Text 94"/>
          <p:cNvSpPr/>
          <p:nvPr/>
        </p:nvSpPr>
        <p:spPr>
          <a:xfrm>
            <a:off x="7132320" y="31455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sessionId, messages[], agent, actions</a:t>
            </a:r>
            <a:endParaRPr lang="en-US" sz="650" dirty="0"/>
          </a:p>
        </p:txBody>
      </p:sp>
      <p:sp>
        <p:nvSpPr>
          <p:cNvPr id="104" name="Text 95"/>
          <p:cNvSpPr/>
          <p:nvPr/>
        </p:nvSpPr>
        <p:spPr>
          <a:xfrm>
            <a:off x="6236208" y="31821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2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Accounts → Transactions → Cards → Loans → ChatHistory</a:t>
            </a:r>
            <a:endParaRPr lang="en-US" sz="650" dirty="0"/>
          </a:p>
        </p:txBody>
      </p:sp>
      <p:sp>
        <p:nvSpPr>
          <p:cNvPr id="105" name="Shape 96"/>
          <p:cNvSpPr/>
          <p:nvPr/>
        </p:nvSpPr>
        <p:spPr>
          <a:xfrm>
            <a:off x="6126480" y="3310128"/>
            <a:ext cx="2743200" cy="320040"/>
          </a:xfrm>
          <a:prstGeom prst="rect">
            <a:avLst/>
          </a:prstGeom>
          <a:solidFill>
            <a:srgbClr val="009DE0"/>
          </a:solidFill>
          <a:ln/>
        </p:spPr>
      </p:sp>
      <p:pic>
        <p:nvPicPr>
          <p:cNvPr id="10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9632" y="3346704"/>
            <a:ext cx="201168" cy="201168"/>
          </a:xfrm>
          <a:prstGeom prst="rect">
            <a:avLst/>
          </a:prstGeom>
        </p:spPr>
      </p:pic>
      <p:sp>
        <p:nvSpPr>
          <p:cNvPr id="107" name="Text 97"/>
          <p:cNvSpPr/>
          <p:nvPr/>
        </p:nvSpPr>
        <p:spPr>
          <a:xfrm>
            <a:off x="644652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 &amp; FILES</a:t>
            </a:r>
            <a:endParaRPr lang="en-US" sz="1000" dirty="0"/>
          </a:p>
        </p:txBody>
      </p:sp>
      <p:sp>
        <p:nvSpPr>
          <p:cNvPr id="108" name="Shape 98"/>
          <p:cNvSpPr/>
          <p:nvPr/>
        </p:nvSpPr>
        <p:spPr>
          <a:xfrm>
            <a:off x="6126480" y="3703320"/>
            <a:ext cx="27432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9" name="Shape 99"/>
          <p:cNvSpPr/>
          <p:nvPr/>
        </p:nvSpPr>
        <p:spPr>
          <a:xfrm>
            <a:off x="6236208" y="3803904"/>
            <a:ext cx="164592" cy="164592"/>
          </a:xfrm>
          <a:prstGeom prst="ellipse">
            <a:avLst/>
          </a:prstGeom>
          <a:solidFill>
            <a:srgbClr val="009DE0"/>
          </a:solidFill>
          <a:ln/>
        </p:spPr>
      </p:sp>
      <p:sp>
        <p:nvSpPr>
          <p:cNvPr id="110" name="Text 100"/>
          <p:cNvSpPr/>
          <p:nvPr/>
        </p:nvSpPr>
        <p:spPr>
          <a:xfrm>
            <a:off x="6473952" y="376732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uploads</a:t>
            </a:r>
            <a:endParaRPr lang="en-US" sz="750" dirty="0"/>
          </a:p>
        </p:txBody>
      </p:sp>
      <p:sp>
        <p:nvSpPr>
          <p:cNvPr id="111" name="Text 101"/>
          <p:cNvSpPr/>
          <p:nvPr/>
        </p:nvSpPr>
        <p:spPr>
          <a:xfrm>
            <a:off x="7360920" y="37673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inline to Gemini AI</a:t>
            </a:r>
            <a:endParaRPr lang="en-US" sz="700" dirty="0"/>
          </a:p>
        </p:txBody>
      </p:sp>
      <p:sp>
        <p:nvSpPr>
          <p:cNvPr id="112" name="Shape 102"/>
          <p:cNvSpPr/>
          <p:nvPr/>
        </p:nvSpPr>
        <p:spPr>
          <a:xfrm>
            <a:off x="6236208" y="4078224"/>
            <a:ext cx="164592" cy="164592"/>
          </a:xfrm>
          <a:prstGeom prst="ellipse">
            <a:avLst/>
          </a:prstGeom>
          <a:solidFill>
            <a:srgbClr val="009DE0"/>
          </a:solidFill>
          <a:ln/>
        </p:spPr>
      </p:sp>
      <p:sp>
        <p:nvSpPr>
          <p:cNvPr id="113" name="Text 103"/>
          <p:cNvSpPr/>
          <p:nvPr/>
        </p:nvSpPr>
        <p:spPr>
          <a:xfrm>
            <a:off x="6473952" y="404164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documents</a:t>
            </a:r>
            <a:endParaRPr lang="en-US" sz="750" dirty="0"/>
          </a:p>
        </p:txBody>
      </p:sp>
      <p:sp>
        <p:nvSpPr>
          <p:cNvPr id="114" name="Text 104"/>
          <p:cNvSpPr/>
          <p:nvPr/>
        </p:nvSpPr>
        <p:spPr>
          <a:xfrm>
            <a:off x="7360920" y="404164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onboarding via vision AI</a:t>
            </a:r>
            <a:endParaRPr lang="en-US" sz="700" dirty="0"/>
          </a:p>
        </p:txBody>
      </p:sp>
      <p:sp>
        <p:nvSpPr>
          <p:cNvPr id="115" name="Shape 105"/>
          <p:cNvSpPr/>
          <p:nvPr/>
        </p:nvSpPr>
        <p:spPr>
          <a:xfrm>
            <a:off x="6236208" y="4352544"/>
            <a:ext cx="164592" cy="164592"/>
          </a:xfrm>
          <a:prstGeom prst="ellipse">
            <a:avLst/>
          </a:prstGeom>
          <a:solidFill>
            <a:srgbClr val="009DE0"/>
          </a:solidFill>
          <a:ln/>
        </p:spPr>
      </p:sp>
      <p:sp>
        <p:nvSpPr>
          <p:cNvPr id="116" name="Text 106"/>
          <p:cNvSpPr/>
          <p:nvPr/>
        </p:nvSpPr>
        <p:spPr>
          <a:xfrm>
            <a:off x="6473952" y="431596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S3/GCS (planned)</a:t>
            </a:r>
            <a:endParaRPr lang="en-US" sz="750" dirty="0"/>
          </a:p>
        </p:txBody>
      </p:sp>
      <p:sp>
        <p:nvSpPr>
          <p:cNvPr id="117" name="Text 107"/>
          <p:cNvSpPr/>
          <p:nvPr/>
        </p:nvSpPr>
        <p:spPr>
          <a:xfrm>
            <a:off x="7360920" y="43159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URLs for secure access</a:t>
            </a:r>
            <a:endParaRPr lang="en-US" sz="700" dirty="0"/>
          </a:p>
        </p:txBody>
      </p:sp>
      <p:sp>
        <p:nvSpPr>
          <p:cNvPr id="118" name="Text 108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Oliver Wyman</a:t>
            </a:r>
            <a:endParaRPr lang="en-US" sz="800" dirty="0"/>
          </a:p>
        </p:txBody>
      </p:sp>
      <p:sp>
        <p:nvSpPr>
          <p:cNvPr id="119" name="Text 109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9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2C7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OBSERVABILITY, LOGGING &amp; DATA FLOWS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206240" cy="320040"/>
          </a:xfrm>
          <a:prstGeom prst="rect">
            <a:avLst/>
          </a:prstGeom>
          <a:solidFill>
            <a:srgbClr val="002C7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877824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841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STACK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298448"/>
            <a:ext cx="1325880" cy="2103120"/>
          </a:xfrm>
          <a:prstGeom prst="rect">
            <a:avLst/>
          </a:prstGeom>
          <a:solidFill>
            <a:srgbClr val="F0F0F0"/>
          </a:solidFill>
          <a:ln w="9525">
            <a:solidFill>
              <a:srgbClr val="DADA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98448"/>
            <a:ext cx="1325880" cy="54864"/>
          </a:xfrm>
          <a:prstGeom prst="rect">
            <a:avLst/>
          </a:prstGeom>
          <a:solidFill>
            <a:srgbClr val="009DE0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1463040"/>
            <a:ext cx="365760" cy="365760"/>
          </a:xfrm>
          <a:prstGeom prst="ellipse">
            <a:avLst/>
          </a:prstGeom>
          <a:solidFill>
            <a:srgbClr val="002C7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3619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" y="1892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11480" y="21214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9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OTLP</a:t>
            </a:r>
            <a:endParaRPr lang="en-US" sz="750" dirty="0"/>
          </a:p>
        </p:txBody>
      </p:sp>
      <p:sp>
        <p:nvSpPr>
          <p:cNvPr id="13" name="Shape 9"/>
          <p:cNvSpPr/>
          <p:nvPr/>
        </p:nvSpPr>
        <p:spPr>
          <a:xfrm>
            <a:off x="457200" y="2468880"/>
            <a:ext cx="73152" cy="73152"/>
          </a:xfrm>
          <a:prstGeom prst="ellipse">
            <a:avLst/>
          </a:prstGeom>
          <a:solidFill>
            <a:srgbClr val="009DE0"/>
          </a:solidFill>
          <a:ln/>
        </p:spPr>
      </p:sp>
      <p:sp>
        <p:nvSpPr>
          <p:cNvPr id="14" name="Text 10"/>
          <p:cNvSpPr/>
          <p:nvPr/>
        </p:nvSpPr>
        <p:spPr>
          <a:xfrm>
            <a:off x="585216" y="2414016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trace propagation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457200" y="2761488"/>
            <a:ext cx="73152" cy="73152"/>
          </a:xfrm>
          <a:prstGeom prst="ellipse">
            <a:avLst/>
          </a:prstGeom>
          <a:solidFill>
            <a:srgbClr val="009DE0"/>
          </a:solidFill>
          <a:ln/>
        </p:spPr>
      </p:sp>
      <p:sp>
        <p:nvSpPr>
          <p:cNvPr id="16" name="Text 12"/>
          <p:cNvSpPr/>
          <p:nvPr/>
        </p:nvSpPr>
        <p:spPr>
          <a:xfrm>
            <a:off x="585216" y="270662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Auto-instrumented HTTP &amp; MongoDB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57200" y="3054096"/>
            <a:ext cx="73152" cy="73152"/>
          </a:xfrm>
          <a:prstGeom prst="ellipse">
            <a:avLst/>
          </a:prstGeom>
          <a:solidFill>
            <a:srgbClr val="009DE0"/>
          </a:solidFill>
          <a:ln/>
        </p:spPr>
      </p:sp>
      <p:sp>
        <p:nvSpPr>
          <p:cNvPr id="18" name="Text 14"/>
          <p:cNvSpPr/>
          <p:nvPr/>
        </p:nvSpPr>
        <p:spPr>
          <a:xfrm>
            <a:off x="585216" y="299923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exporter → Jaeger/Tempo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1783080" y="1298448"/>
            <a:ext cx="1325880" cy="2103120"/>
          </a:xfrm>
          <a:prstGeom prst="rect">
            <a:avLst/>
          </a:prstGeom>
          <a:solidFill>
            <a:srgbClr val="F0F0F0"/>
          </a:solidFill>
          <a:ln w="9525">
            <a:solidFill>
              <a:srgbClr val="DADA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783080" y="1298448"/>
            <a:ext cx="1325880" cy="54864"/>
          </a:xfrm>
          <a:prstGeom prst="rect">
            <a:avLst/>
          </a:prstGeom>
          <a:solidFill>
            <a:srgbClr val="002C77"/>
          </a:solidFill>
          <a:ln/>
        </p:spPr>
      </p:sp>
      <p:sp>
        <p:nvSpPr>
          <p:cNvPr id="21" name="Shape 17"/>
          <p:cNvSpPr/>
          <p:nvPr/>
        </p:nvSpPr>
        <p:spPr>
          <a:xfrm>
            <a:off x="2258568" y="1463040"/>
            <a:ext cx="365760" cy="365760"/>
          </a:xfrm>
          <a:prstGeom prst="ellipse">
            <a:avLst/>
          </a:prstGeom>
          <a:solidFill>
            <a:srgbClr val="002C77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53619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828800" y="1892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828800" y="21214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9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Winston Logger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1874520" y="2468880"/>
            <a:ext cx="73152" cy="73152"/>
          </a:xfrm>
          <a:prstGeom prst="ellipse">
            <a:avLst/>
          </a:prstGeom>
          <a:solidFill>
            <a:srgbClr val="002C77"/>
          </a:solidFill>
          <a:ln/>
        </p:spPr>
      </p:sp>
      <p:sp>
        <p:nvSpPr>
          <p:cNvPr id="26" name="Text 21"/>
          <p:cNvSpPr/>
          <p:nvPr/>
        </p:nvSpPr>
        <p:spPr>
          <a:xfrm>
            <a:off x="2002536" y="2414016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in production</a:t>
            </a:r>
            <a:endParaRPr lang="en-US" sz="700" dirty="0"/>
          </a:p>
        </p:txBody>
      </p:sp>
      <p:sp>
        <p:nvSpPr>
          <p:cNvPr id="27" name="Shape 22"/>
          <p:cNvSpPr/>
          <p:nvPr/>
        </p:nvSpPr>
        <p:spPr>
          <a:xfrm>
            <a:off x="1874520" y="2761488"/>
            <a:ext cx="73152" cy="73152"/>
          </a:xfrm>
          <a:prstGeom prst="ellipse">
            <a:avLst/>
          </a:prstGeom>
          <a:solidFill>
            <a:srgbClr val="002C77"/>
          </a:solidFill>
          <a:ln/>
        </p:spPr>
      </p:sp>
      <p:sp>
        <p:nvSpPr>
          <p:cNvPr id="28" name="Text 23"/>
          <p:cNvSpPr/>
          <p:nvPr/>
        </p:nvSpPr>
        <p:spPr>
          <a:xfrm>
            <a:off x="2002536" y="270662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Per-module child loggers</a:t>
            </a:r>
            <a:endParaRPr lang="en-US" sz="700" dirty="0"/>
          </a:p>
        </p:txBody>
      </p:sp>
      <p:sp>
        <p:nvSpPr>
          <p:cNvPr id="29" name="Shape 24"/>
          <p:cNvSpPr/>
          <p:nvPr/>
        </p:nvSpPr>
        <p:spPr>
          <a:xfrm>
            <a:off x="1874520" y="3054096"/>
            <a:ext cx="73152" cy="73152"/>
          </a:xfrm>
          <a:prstGeom prst="ellipse">
            <a:avLst/>
          </a:prstGeom>
          <a:solidFill>
            <a:srgbClr val="002C77"/>
          </a:solidFill>
          <a:ln/>
        </p:spPr>
      </p:sp>
      <p:sp>
        <p:nvSpPr>
          <p:cNvPr id="30" name="Text 25"/>
          <p:cNvSpPr/>
          <p:nvPr/>
        </p:nvSpPr>
        <p:spPr>
          <a:xfrm>
            <a:off x="2002536" y="299923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colorized HH:mm:ss format</a:t>
            </a:r>
            <a:endParaRPr lang="en-US" sz="700" dirty="0"/>
          </a:p>
        </p:txBody>
      </p:sp>
      <p:sp>
        <p:nvSpPr>
          <p:cNvPr id="31" name="Shape 26"/>
          <p:cNvSpPr/>
          <p:nvPr/>
        </p:nvSpPr>
        <p:spPr>
          <a:xfrm>
            <a:off x="3200400" y="1298448"/>
            <a:ext cx="1325880" cy="2103120"/>
          </a:xfrm>
          <a:prstGeom prst="rect">
            <a:avLst/>
          </a:prstGeom>
          <a:solidFill>
            <a:srgbClr val="F0F0F0"/>
          </a:solidFill>
          <a:ln w="9525">
            <a:solidFill>
              <a:srgbClr val="DADA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3200400" y="1298448"/>
            <a:ext cx="1325880" cy="54864"/>
          </a:xfrm>
          <a:prstGeom prst="rect">
            <a:avLst/>
          </a:prstGeom>
          <a:solidFill>
            <a:srgbClr val="00AC41"/>
          </a:solidFill>
          <a:ln/>
        </p:spPr>
      </p:sp>
      <p:sp>
        <p:nvSpPr>
          <p:cNvPr id="33" name="Shape 28"/>
          <p:cNvSpPr/>
          <p:nvPr/>
        </p:nvSpPr>
        <p:spPr>
          <a:xfrm>
            <a:off x="3675888" y="1463040"/>
            <a:ext cx="365760" cy="365760"/>
          </a:xfrm>
          <a:prstGeom prst="ellipse">
            <a:avLst/>
          </a:prstGeom>
          <a:solidFill>
            <a:srgbClr val="002C77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536192"/>
            <a:ext cx="219456" cy="21945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3246120" y="1892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3246120" y="21214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9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prom-client</a:t>
            </a:r>
            <a:endParaRPr lang="en-US" sz="750" dirty="0"/>
          </a:p>
        </p:txBody>
      </p:sp>
      <p:sp>
        <p:nvSpPr>
          <p:cNvPr id="37" name="Shape 31"/>
          <p:cNvSpPr/>
          <p:nvPr/>
        </p:nvSpPr>
        <p:spPr>
          <a:xfrm>
            <a:off x="3291840" y="2468880"/>
            <a:ext cx="73152" cy="73152"/>
          </a:xfrm>
          <a:prstGeom prst="ellipse">
            <a:avLst/>
          </a:prstGeom>
          <a:solidFill>
            <a:srgbClr val="00AC41"/>
          </a:solidFill>
          <a:ln/>
        </p:spPr>
      </p:sp>
      <p:sp>
        <p:nvSpPr>
          <p:cNvPr id="38" name="Text 32"/>
          <p:cNvSpPr/>
          <p:nvPr/>
        </p:nvSpPr>
        <p:spPr>
          <a:xfrm>
            <a:off x="3419856" y="2414016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latency histograms</a:t>
            </a:r>
            <a:endParaRPr lang="en-US" sz="700" dirty="0"/>
          </a:p>
        </p:txBody>
      </p:sp>
      <p:sp>
        <p:nvSpPr>
          <p:cNvPr id="39" name="Shape 33"/>
          <p:cNvSpPr/>
          <p:nvPr/>
        </p:nvSpPr>
        <p:spPr>
          <a:xfrm>
            <a:off x="3291840" y="2761488"/>
            <a:ext cx="73152" cy="73152"/>
          </a:xfrm>
          <a:prstGeom prst="ellipse">
            <a:avLst/>
          </a:prstGeom>
          <a:solidFill>
            <a:srgbClr val="00AC41"/>
          </a:solidFill>
          <a:ln/>
        </p:spPr>
      </p:sp>
      <p:sp>
        <p:nvSpPr>
          <p:cNvPr id="40" name="Text 34"/>
          <p:cNvSpPr/>
          <p:nvPr/>
        </p:nvSpPr>
        <p:spPr>
          <a:xfrm>
            <a:off x="3419856" y="2706624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action counters</a:t>
            </a:r>
            <a:endParaRPr lang="en-US" sz="700" dirty="0"/>
          </a:p>
        </p:txBody>
      </p:sp>
      <p:sp>
        <p:nvSpPr>
          <p:cNvPr id="41" name="Shape 35"/>
          <p:cNvSpPr/>
          <p:nvPr/>
        </p:nvSpPr>
        <p:spPr>
          <a:xfrm>
            <a:off x="3291840" y="3054096"/>
            <a:ext cx="73152" cy="73152"/>
          </a:xfrm>
          <a:prstGeom prst="ellipse">
            <a:avLst/>
          </a:prstGeom>
          <a:solidFill>
            <a:srgbClr val="00AC41"/>
          </a:solidFill>
          <a:ln/>
        </p:spPr>
      </p:sp>
      <p:sp>
        <p:nvSpPr>
          <p:cNvPr id="42" name="Text 36"/>
          <p:cNvSpPr/>
          <p:nvPr/>
        </p:nvSpPr>
        <p:spPr>
          <a:xfrm>
            <a:off x="3419856" y="2999232"/>
            <a:ext cx="1014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volume &amp; error tracking</a:t>
            </a:r>
            <a:endParaRPr lang="en-US" sz="700" dirty="0"/>
          </a:p>
        </p:txBody>
      </p:sp>
      <p:sp>
        <p:nvSpPr>
          <p:cNvPr id="43" name="Shape 37"/>
          <p:cNvSpPr/>
          <p:nvPr/>
        </p:nvSpPr>
        <p:spPr>
          <a:xfrm>
            <a:off x="365760" y="3520440"/>
            <a:ext cx="4206240" cy="274320"/>
          </a:xfrm>
          <a:prstGeom prst="rect">
            <a:avLst/>
          </a:prstGeom>
          <a:solidFill>
            <a:srgbClr val="002C77"/>
          </a:solidFill>
          <a:ln/>
        </p:spPr>
      </p:sp>
      <p:sp>
        <p:nvSpPr>
          <p:cNvPr id="44" name="Text 38"/>
          <p:cNvSpPr/>
          <p:nvPr/>
        </p:nvSpPr>
        <p:spPr>
          <a:xfrm>
            <a:off x="457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PROMETHEUS METRICS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365760" y="3813048"/>
            <a:ext cx="4206240" cy="2011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6" name="Text 40"/>
          <p:cNvSpPr/>
          <p:nvPr/>
        </p:nvSpPr>
        <p:spPr>
          <a:xfrm>
            <a:off x="438912" y="38130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Name</a:t>
            </a:r>
            <a:endParaRPr lang="en-US" sz="700" dirty="0"/>
          </a:p>
        </p:txBody>
      </p:sp>
      <p:sp>
        <p:nvSpPr>
          <p:cNvPr id="47" name="Text 41"/>
          <p:cNvSpPr/>
          <p:nvPr/>
        </p:nvSpPr>
        <p:spPr>
          <a:xfrm>
            <a:off x="2651760" y="38130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00" dirty="0"/>
          </a:p>
        </p:txBody>
      </p:sp>
      <p:sp>
        <p:nvSpPr>
          <p:cNvPr id="48" name="Text 42"/>
          <p:cNvSpPr/>
          <p:nvPr/>
        </p:nvSpPr>
        <p:spPr>
          <a:xfrm>
            <a:off x="3291840" y="38130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2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700" dirty="0"/>
          </a:p>
        </p:txBody>
      </p:sp>
      <p:sp>
        <p:nvSpPr>
          <p:cNvPr id="49" name="Shape 43"/>
          <p:cNvSpPr/>
          <p:nvPr/>
        </p:nvSpPr>
        <p:spPr>
          <a:xfrm>
            <a:off x="365760" y="4023360"/>
            <a:ext cx="4206240" cy="164592"/>
          </a:xfrm>
          <a:prstGeom prst="rect">
            <a:avLst/>
          </a:prstGeom>
          <a:solidFill>
            <a:srgbClr val="F0F0F0">
              <a:alpha val="50000"/>
            </a:srgbClr>
          </a:solidFill>
          <a:ln/>
        </p:spPr>
      </p:sp>
      <p:sp>
        <p:nvSpPr>
          <p:cNvPr id="50" name="Text 44"/>
          <p:cNvSpPr/>
          <p:nvPr/>
        </p:nvSpPr>
        <p:spPr>
          <a:xfrm>
            <a:off x="438912" y="402336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owbank_http_request_duration_seconds</a:t>
            </a:r>
            <a:endParaRPr lang="en-US" sz="600" dirty="0"/>
          </a:p>
        </p:txBody>
      </p:sp>
      <p:sp>
        <p:nvSpPr>
          <p:cNvPr id="51" name="Text 45"/>
          <p:cNvSpPr/>
          <p:nvPr/>
        </p:nvSpPr>
        <p:spPr>
          <a:xfrm>
            <a:off x="2651760" y="40233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600" dirty="0"/>
          </a:p>
        </p:txBody>
      </p:sp>
      <p:sp>
        <p:nvSpPr>
          <p:cNvPr id="52" name="Text 46"/>
          <p:cNvSpPr/>
          <p:nvPr/>
        </p:nvSpPr>
        <p:spPr>
          <a:xfrm>
            <a:off x="3291840" y="40233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latency by route</a:t>
            </a:r>
            <a:endParaRPr lang="en-US" sz="600" dirty="0"/>
          </a:p>
        </p:txBody>
      </p:sp>
      <p:sp>
        <p:nvSpPr>
          <p:cNvPr id="53" name="Text 47"/>
          <p:cNvSpPr/>
          <p:nvPr/>
        </p:nvSpPr>
        <p:spPr>
          <a:xfrm>
            <a:off x="438912" y="4187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owbank_chat_action_total</a:t>
            </a:r>
            <a:endParaRPr lang="en-US" sz="600" dirty="0"/>
          </a:p>
        </p:txBody>
      </p:sp>
      <p:sp>
        <p:nvSpPr>
          <p:cNvPr id="54" name="Text 48"/>
          <p:cNvSpPr/>
          <p:nvPr/>
        </p:nvSpPr>
        <p:spPr>
          <a:xfrm>
            <a:off x="2651760" y="41879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600" dirty="0"/>
          </a:p>
        </p:txBody>
      </p:sp>
      <p:sp>
        <p:nvSpPr>
          <p:cNvPr id="55" name="Text 49"/>
          <p:cNvSpPr/>
          <p:nvPr/>
        </p:nvSpPr>
        <p:spPr>
          <a:xfrm>
            <a:off x="3291840" y="41879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actions executed</a:t>
            </a:r>
            <a:endParaRPr lang="en-US" sz="600" dirty="0"/>
          </a:p>
        </p:txBody>
      </p:sp>
      <p:sp>
        <p:nvSpPr>
          <p:cNvPr id="56" name="Shape 50"/>
          <p:cNvSpPr/>
          <p:nvPr/>
        </p:nvSpPr>
        <p:spPr>
          <a:xfrm>
            <a:off x="365760" y="4352544"/>
            <a:ext cx="4206240" cy="164592"/>
          </a:xfrm>
          <a:prstGeom prst="rect">
            <a:avLst/>
          </a:prstGeom>
          <a:solidFill>
            <a:srgbClr val="F0F0F0">
              <a:alpha val="50000"/>
            </a:srgbClr>
          </a:solidFill>
          <a:ln/>
        </p:spPr>
      </p:sp>
      <p:sp>
        <p:nvSpPr>
          <p:cNvPr id="57" name="Text 51"/>
          <p:cNvSpPr/>
          <p:nvPr/>
        </p:nvSpPr>
        <p:spPr>
          <a:xfrm>
            <a:off x="438912" y="43525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owbank_transfer_volume_total</a:t>
            </a:r>
            <a:endParaRPr lang="en-US" sz="600" dirty="0"/>
          </a:p>
        </p:txBody>
      </p:sp>
      <p:sp>
        <p:nvSpPr>
          <p:cNvPr id="58" name="Text 52"/>
          <p:cNvSpPr/>
          <p:nvPr/>
        </p:nvSpPr>
        <p:spPr>
          <a:xfrm>
            <a:off x="2651760" y="43525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600" dirty="0"/>
          </a:p>
        </p:txBody>
      </p:sp>
      <p:sp>
        <p:nvSpPr>
          <p:cNvPr id="59" name="Text 53"/>
          <p:cNvSpPr/>
          <p:nvPr/>
        </p:nvSpPr>
        <p:spPr>
          <a:xfrm>
            <a:off x="3291840" y="43525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amounts by currency</a:t>
            </a:r>
            <a:endParaRPr lang="en-US" sz="600" dirty="0"/>
          </a:p>
        </p:txBody>
      </p:sp>
      <p:sp>
        <p:nvSpPr>
          <p:cNvPr id="60" name="Text 54"/>
          <p:cNvSpPr/>
          <p:nvPr/>
        </p:nvSpPr>
        <p:spPr>
          <a:xfrm>
            <a:off x="438912" y="451713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owbank_errors_total</a:t>
            </a:r>
            <a:endParaRPr lang="en-US" sz="600" dirty="0"/>
          </a:p>
        </p:txBody>
      </p:sp>
      <p:sp>
        <p:nvSpPr>
          <p:cNvPr id="61" name="Text 55"/>
          <p:cNvSpPr/>
          <p:nvPr/>
        </p:nvSpPr>
        <p:spPr>
          <a:xfrm>
            <a:off x="2651760" y="45171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600" dirty="0"/>
          </a:p>
        </p:txBody>
      </p:sp>
      <p:sp>
        <p:nvSpPr>
          <p:cNvPr id="62" name="Text 56"/>
          <p:cNvSpPr/>
          <p:nvPr/>
        </p:nvSpPr>
        <p:spPr>
          <a:xfrm>
            <a:off x="3291840" y="451713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by module &amp; type</a:t>
            </a:r>
            <a:endParaRPr lang="en-US" sz="600" dirty="0"/>
          </a:p>
        </p:txBody>
      </p:sp>
      <p:sp>
        <p:nvSpPr>
          <p:cNvPr id="63" name="Shape 57"/>
          <p:cNvSpPr/>
          <p:nvPr/>
        </p:nvSpPr>
        <p:spPr>
          <a:xfrm>
            <a:off x="365760" y="4681728"/>
            <a:ext cx="4206240" cy="164592"/>
          </a:xfrm>
          <a:prstGeom prst="rect">
            <a:avLst/>
          </a:prstGeom>
          <a:solidFill>
            <a:srgbClr val="F0F0F0">
              <a:alpha val="50000"/>
            </a:srgbClr>
          </a:solidFill>
          <a:ln/>
        </p:spPr>
      </p:sp>
      <p:sp>
        <p:nvSpPr>
          <p:cNvPr id="64" name="Text 58"/>
          <p:cNvSpPr/>
          <p:nvPr/>
        </p:nvSpPr>
        <p:spPr>
          <a:xfrm>
            <a:off x="438912" y="4681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owbank_active_sessions</a:t>
            </a:r>
            <a:endParaRPr lang="en-US" sz="600" dirty="0"/>
          </a:p>
        </p:txBody>
      </p:sp>
      <p:sp>
        <p:nvSpPr>
          <p:cNvPr id="65" name="Text 59"/>
          <p:cNvSpPr/>
          <p:nvPr/>
        </p:nvSpPr>
        <p:spPr>
          <a:xfrm>
            <a:off x="2651760" y="46817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</a:t>
            </a:r>
            <a:endParaRPr lang="en-US" sz="600" dirty="0"/>
          </a:p>
        </p:txBody>
      </p:sp>
      <p:sp>
        <p:nvSpPr>
          <p:cNvPr id="66" name="Text 60"/>
          <p:cNvSpPr/>
          <p:nvPr/>
        </p:nvSpPr>
        <p:spPr>
          <a:xfrm>
            <a:off x="3291840" y="46817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sessions</a:t>
            </a:r>
            <a:endParaRPr lang="en-US" sz="600" dirty="0"/>
          </a:p>
        </p:txBody>
      </p:sp>
      <p:sp>
        <p:nvSpPr>
          <p:cNvPr id="67" name="Shape 61"/>
          <p:cNvSpPr/>
          <p:nvPr/>
        </p:nvSpPr>
        <p:spPr>
          <a:xfrm>
            <a:off x="4754880" y="841248"/>
            <a:ext cx="4114800" cy="320040"/>
          </a:xfrm>
          <a:prstGeom prst="rect">
            <a:avLst/>
          </a:prstGeom>
          <a:solidFill>
            <a:srgbClr val="009DE0"/>
          </a:solidFill>
          <a:ln/>
        </p:spPr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877824"/>
            <a:ext cx="201168" cy="201168"/>
          </a:xfrm>
          <a:prstGeom prst="rect">
            <a:avLst/>
          </a:prstGeom>
        </p:spPr>
      </p:pic>
      <p:sp>
        <p:nvSpPr>
          <p:cNvPr id="69" name="Text 62"/>
          <p:cNvSpPr/>
          <p:nvPr/>
        </p:nvSpPr>
        <p:spPr>
          <a:xfrm>
            <a:off x="5074920" y="841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FLOWS</a:t>
            </a:r>
            <a:endParaRPr lang="en-US" sz="1100" dirty="0"/>
          </a:p>
        </p:txBody>
      </p:sp>
      <p:sp>
        <p:nvSpPr>
          <p:cNvPr id="70" name="Shape 63"/>
          <p:cNvSpPr/>
          <p:nvPr/>
        </p:nvSpPr>
        <p:spPr>
          <a:xfrm>
            <a:off x="4754880" y="1298448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1" name="Shape 64"/>
          <p:cNvSpPr/>
          <p:nvPr/>
        </p:nvSpPr>
        <p:spPr>
          <a:xfrm>
            <a:off x="4864608" y="1371600"/>
            <a:ext cx="274320" cy="274320"/>
          </a:xfrm>
          <a:prstGeom prst="ellipse">
            <a:avLst/>
          </a:prstGeom>
          <a:solidFill>
            <a:srgbClr val="00AC41"/>
          </a:solidFill>
          <a:ln/>
        </p:spPr>
      </p:sp>
      <p:pic>
        <p:nvPicPr>
          <p:cNvPr id="7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1417320"/>
            <a:ext cx="182880" cy="182880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5212080" y="13533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TRANSFER FLOW</a:t>
            </a:r>
            <a:endParaRPr lang="en-US" sz="900" dirty="0"/>
          </a:p>
        </p:txBody>
      </p:sp>
      <p:sp>
        <p:nvSpPr>
          <p:cNvPr id="74" name="Shape 66"/>
          <p:cNvSpPr/>
          <p:nvPr/>
        </p:nvSpPr>
        <p:spPr>
          <a:xfrm>
            <a:off x="4892040" y="1737360"/>
            <a:ext cx="146304" cy="146304"/>
          </a:xfrm>
          <a:prstGeom prst="ellipse">
            <a:avLst/>
          </a:prstGeom>
          <a:solidFill>
            <a:srgbClr val="00AC41"/>
          </a:solidFill>
          <a:ln/>
        </p:spPr>
      </p:sp>
      <p:sp>
        <p:nvSpPr>
          <p:cNvPr id="75" name="Text 67"/>
          <p:cNvSpPr/>
          <p:nvPr/>
        </p:nvSpPr>
        <p:spPr>
          <a:xfrm>
            <a:off x="4892040" y="173736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76" name="Text 68"/>
          <p:cNvSpPr/>
          <p:nvPr/>
        </p:nvSpPr>
        <p:spPr>
          <a:xfrm>
            <a:off x="5102352" y="17190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/api/transactions/transfer → Auth guard validates sender</a:t>
            </a:r>
            <a:endParaRPr lang="en-US" sz="700" dirty="0"/>
          </a:p>
        </p:txBody>
      </p:sp>
      <p:sp>
        <p:nvSpPr>
          <p:cNvPr id="77" name="Shape 69"/>
          <p:cNvSpPr/>
          <p:nvPr/>
        </p:nvSpPr>
        <p:spPr>
          <a:xfrm>
            <a:off x="4892040" y="1920240"/>
            <a:ext cx="146304" cy="146304"/>
          </a:xfrm>
          <a:prstGeom prst="ellipse">
            <a:avLst/>
          </a:prstGeom>
          <a:solidFill>
            <a:srgbClr val="00AC41"/>
          </a:solidFill>
          <a:ln/>
        </p:spPr>
      </p:sp>
      <p:sp>
        <p:nvSpPr>
          <p:cNvPr id="78" name="Text 70"/>
          <p:cNvSpPr/>
          <p:nvPr/>
        </p:nvSpPr>
        <p:spPr>
          <a:xfrm>
            <a:off x="4892040" y="19202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79" name="Text 71"/>
          <p:cNvSpPr/>
          <p:nvPr/>
        </p:nvSpPr>
        <p:spPr>
          <a:xfrm>
            <a:off x="5102352" y="1901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publishes TRANSFER_INITIATED event</a:t>
            </a:r>
            <a:endParaRPr lang="en-US" sz="700" dirty="0"/>
          </a:p>
        </p:txBody>
      </p:sp>
      <p:sp>
        <p:nvSpPr>
          <p:cNvPr id="80" name="Shape 72"/>
          <p:cNvSpPr/>
          <p:nvPr/>
        </p:nvSpPr>
        <p:spPr>
          <a:xfrm>
            <a:off x="4892040" y="2103120"/>
            <a:ext cx="146304" cy="146304"/>
          </a:xfrm>
          <a:prstGeom prst="ellipse">
            <a:avLst/>
          </a:prstGeom>
          <a:solidFill>
            <a:srgbClr val="00AC41"/>
          </a:solidFill>
          <a:ln/>
        </p:spPr>
      </p:sp>
      <p:sp>
        <p:nvSpPr>
          <p:cNvPr id="81" name="Text 73"/>
          <p:cNvSpPr/>
          <p:nvPr/>
        </p:nvSpPr>
        <p:spPr>
          <a:xfrm>
            <a:off x="4892040" y="21031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82" name="Text 74"/>
          <p:cNvSpPr/>
          <p:nvPr/>
        </p:nvSpPr>
        <p:spPr>
          <a:xfrm>
            <a:off x="5102352" y="20848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atomic TX: debit sender, credit recipient</a:t>
            </a:r>
            <a:endParaRPr lang="en-US" sz="700" dirty="0"/>
          </a:p>
        </p:txBody>
      </p:sp>
      <p:sp>
        <p:nvSpPr>
          <p:cNvPr id="83" name="Shape 75"/>
          <p:cNvSpPr/>
          <p:nvPr/>
        </p:nvSpPr>
        <p:spPr>
          <a:xfrm>
            <a:off x="4892040" y="2286000"/>
            <a:ext cx="146304" cy="146304"/>
          </a:xfrm>
          <a:prstGeom prst="ellipse">
            <a:avLst/>
          </a:prstGeom>
          <a:solidFill>
            <a:srgbClr val="00AC41"/>
          </a:solidFill>
          <a:ln/>
        </p:spPr>
      </p:sp>
      <p:sp>
        <p:nvSpPr>
          <p:cNvPr id="84" name="Text 76"/>
          <p:cNvSpPr/>
          <p:nvPr/>
        </p:nvSpPr>
        <p:spPr>
          <a:xfrm>
            <a:off x="4892040" y="228600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85" name="Text 77"/>
          <p:cNvSpPr/>
          <p:nvPr/>
        </p:nvSpPr>
        <p:spPr>
          <a:xfrm>
            <a:off x="5102352" y="22677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publishes TRANSFER_COMPLETED event</a:t>
            </a:r>
            <a:endParaRPr lang="en-US" sz="700" dirty="0"/>
          </a:p>
        </p:txBody>
      </p:sp>
      <p:sp>
        <p:nvSpPr>
          <p:cNvPr id="86" name="Shape 78"/>
          <p:cNvSpPr/>
          <p:nvPr/>
        </p:nvSpPr>
        <p:spPr>
          <a:xfrm>
            <a:off x="4892040" y="2468880"/>
            <a:ext cx="146304" cy="146304"/>
          </a:xfrm>
          <a:prstGeom prst="ellipse">
            <a:avLst/>
          </a:prstGeom>
          <a:solidFill>
            <a:srgbClr val="00AC41"/>
          </a:solidFill>
          <a:ln/>
        </p:spPr>
      </p:sp>
      <p:sp>
        <p:nvSpPr>
          <p:cNvPr id="87" name="Text 79"/>
          <p:cNvSpPr/>
          <p:nvPr/>
        </p:nvSpPr>
        <p:spPr>
          <a:xfrm>
            <a:off x="4892040" y="246888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88" name="Text 80"/>
          <p:cNvSpPr/>
          <p:nvPr/>
        </p:nvSpPr>
        <p:spPr>
          <a:xfrm>
            <a:off x="5102352" y="24505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updates kafkaOffset &amp; notificationSent flag</a:t>
            </a:r>
            <a:endParaRPr lang="en-US" sz="700" dirty="0"/>
          </a:p>
        </p:txBody>
      </p:sp>
      <p:sp>
        <p:nvSpPr>
          <p:cNvPr id="89" name="Shape 81"/>
          <p:cNvSpPr/>
          <p:nvPr/>
        </p:nvSpPr>
        <p:spPr>
          <a:xfrm>
            <a:off x="4754880" y="2834640"/>
            <a:ext cx="4114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AD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0" name="Shape 82"/>
          <p:cNvSpPr/>
          <p:nvPr/>
        </p:nvSpPr>
        <p:spPr>
          <a:xfrm>
            <a:off x="4864608" y="2907792"/>
            <a:ext cx="274320" cy="274320"/>
          </a:xfrm>
          <a:prstGeom prst="ellipse">
            <a:avLst/>
          </a:prstGeom>
          <a:solidFill>
            <a:srgbClr val="FBAE40"/>
          </a:solidFill>
          <a:ln/>
        </p:spPr>
      </p:sp>
      <p:pic>
        <p:nvPicPr>
          <p:cNvPr id="9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953512"/>
            <a:ext cx="182880" cy="182880"/>
          </a:xfrm>
          <a:prstGeom prst="rect">
            <a:avLst/>
          </a:prstGeom>
        </p:spPr>
      </p:pic>
      <p:sp>
        <p:nvSpPr>
          <p:cNvPr id="92" name="Text 83"/>
          <p:cNvSpPr/>
          <p:nvPr/>
        </p:nvSpPr>
        <p:spPr>
          <a:xfrm>
            <a:off x="5212080" y="288950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C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+ ACTION DISPATCH FLOW</a:t>
            </a:r>
            <a:endParaRPr lang="en-US" sz="900" dirty="0"/>
          </a:p>
        </p:txBody>
      </p:sp>
      <p:sp>
        <p:nvSpPr>
          <p:cNvPr id="93" name="Shape 84"/>
          <p:cNvSpPr/>
          <p:nvPr/>
        </p:nvSpPr>
        <p:spPr>
          <a:xfrm>
            <a:off x="4892040" y="3273552"/>
            <a:ext cx="146304" cy="146304"/>
          </a:xfrm>
          <a:prstGeom prst="ellipse">
            <a:avLst/>
          </a:prstGeom>
          <a:solidFill>
            <a:srgbClr val="FBAE40"/>
          </a:solidFill>
          <a:ln/>
        </p:spPr>
      </p:sp>
      <p:sp>
        <p:nvSpPr>
          <p:cNvPr id="94" name="Text 85"/>
          <p:cNvSpPr/>
          <p:nvPr/>
        </p:nvSpPr>
        <p:spPr>
          <a:xfrm>
            <a:off x="4892040" y="327355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00" dirty="0"/>
          </a:p>
        </p:txBody>
      </p:sp>
      <p:sp>
        <p:nvSpPr>
          <p:cNvPr id="95" name="Text 86"/>
          <p:cNvSpPr/>
          <p:nvPr/>
        </p:nvSpPr>
        <p:spPr>
          <a:xfrm>
            <a:off x="5102352" y="32552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/api/ai/chat → auth + non-banking guard</a:t>
            </a:r>
            <a:endParaRPr lang="en-US" sz="700" dirty="0"/>
          </a:p>
        </p:txBody>
      </p:sp>
      <p:sp>
        <p:nvSpPr>
          <p:cNvPr id="96" name="Shape 87"/>
          <p:cNvSpPr/>
          <p:nvPr/>
        </p:nvSpPr>
        <p:spPr>
          <a:xfrm>
            <a:off x="4892040" y="3456432"/>
            <a:ext cx="146304" cy="146304"/>
          </a:xfrm>
          <a:prstGeom prst="ellipse">
            <a:avLst/>
          </a:prstGeom>
          <a:solidFill>
            <a:srgbClr val="FBAE40"/>
          </a:solidFill>
          <a:ln/>
        </p:spPr>
      </p:sp>
      <p:sp>
        <p:nvSpPr>
          <p:cNvPr id="97" name="Text 88"/>
          <p:cNvSpPr/>
          <p:nvPr/>
        </p:nvSpPr>
        <p:spPr>
          <a:xfrm>
            <a:off x="4892040" y="34564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00" dirty="0"/>
          </a:p>
        </p:txBody>
      </p:sp>
      <p:sp>
        <p:nvSpPr>
          <p:cNvPr id="98" name="Text 89"/>
          <p:cNvSpPr/>
          <p:nvPr/>
        </p:nvSpPr>
        <p:spPr>
          <a:xfrm>
            <a:off x="5102352" y="34381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attachment → base64 inline processing</a:t>
            </a:r>
            <a:endParaRPr lang="en-US" sz="700" dirty="0"/>
          </a:p>
        </p:txBody>
      </p:sp>
      <p:sp>
        <p:nvSpPr>
          <p:cNvPr id="99" name="Shape 90"/>
          <p:cNvSpPr/>
          <p:nvPr/>
        </p:nvSpPr>
        <p:spPr>
          <a:xfrm>
            <a:off x="4892040" y="3639312"/>
            <a:ext cx="146304" cy="146304"/>
          </a:xfrm>
          <a:prstGeom prst="ellipse">
            <a:avLst/>
          </a:prstGeom>
          <a:solidFill>
            <a:srgbClr val="FBAE40"/>
          </a:solidFill>
          <a:ln/>
        </p:spPr>
      </p:sp>
      <p:sp>
        <p:nvSpPr>
          <p:cNvPr id="100" name="Text 91"/>
          <p:cNvSpPr/>
          <p:nvPr/>
        </p:nvSpPr>
        <p:spPr>
          <a:xfrm>
            <a:off x="4892040" y="36393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00" dirty="0"/>
          </a:p>
        </p:txBody>
      </p:sp>
      <p:sp>
        <p:nvSpPr>
          <p:cNvPr id="101" name="Text 92"/>
          <p:cNvSpPr/>
          <p:nvPr/>
        </p:nvSpPr>
        <p:spPr>
          <a:xfrm>
            <a:off x="5102352" y="36210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call with context window (last 6 exchanges)</a:t>
            </a:r>
            <a:endParaRPr lang="en-US" sz="700" dirty="0"/>
          </a:p>
        </p:txBody>
      </p:sp>
      <p:sp>
        <p:nvSpPr>
          <p:cNvPr id="102" name="Shape 93"/>
          <p:cNvSpPr/>
          <p:nvPr/>
        </p:nvSpPr>
        <p:spPr>
          <a:xfrm>
            <a:off x="4892040" y="3822192"/>
            <a:ext cx="146304" cy="146304"/>
          </a:xfrm>
          <a:prstGeom prst="ellipse">
            <a:avLst/>
          </a:prstGeom>
          <a:solidFill>
            <a:srgbClr val="FBAE40"/>
          </a:solidFill>
          <a:ln/>
        </p:spPr>
      </p:sp>
      <p:sp>
        <p:nvSpPr>
          <p:cNvPr id="103" name="Text 94"/>
          <p:cNvSpPr/>
          <p:nvPr/>
        </p:nvSpPr>
        <p:spPr>
          <a:xfrm>
            <a:off x="4892040" y="38221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" dirty="0"/>
          </a:p>
        </p:txBody>
      </p:sp>
      <p:sp>
        <p:nvSpPr>
          <p:cNvPr id="104" name="Text 95"/>
          <p:cNvSpPr/>
          <p:nvPr/>
        </p:nvSpPr>
        <p:spPr>
          <a:xfrm>
            <a:off x="5102352" y="3803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JSON extraction → route to handler (balance, transfer, card...)</a:t>
            </a:r>
            <a:endParaRPr lang="en-US" sz="700" dirty="0"/>
          </a:p>
        </p:txBody>
      </p:sp>
      <p:sp>
        <p:nvSpPr>
          <p:cNvPr id="105" name="Shape 96"/>
          <p:cNvSpPr/>
          <p:nvPr/>
        </p:nvSpPr>
        <p:spPr>
          <a:xfrm>
            <a:off x="4892040" y="4005072"/>
            <a:ext cx="146304" cy="146304"/>
          </a:xfrm>
          <a:prstGeom prst="ellipse">
            <a:avLst/>
          </a:prstGeom>
          <a:solidFill>
            <a:srgbClr val="FBAE40"/>
          </a:solidFill>
          <a:ln/>
        </p:spPr>
      </p:sp>
      <p:sp>
        <p:nvSpPr>
          <p:cNvPr id="106" name="Text 97"/>
          <p:cNvSpPr/>
          <p:nvPr/>
        </p:nvSpPr>
        <p:spPr>
          <a:xfrm>
            <a:off x="4892040" y="400507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" dirty="0"/>
          </a:p>
        </p:txBody>
      </p:sp>
      <p:sp>
        <p:nvSpPr>
          <p:cNvPr id="107" name="Text 98"/>
          <p:cNvSpPr/>
          <p:nvPr/>
        </p:nvSpPr>
        <p:spPr>
          <a:xfrm>
            <a:off x="5102352" y="39867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6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executes DB ops → agent classification → suggested actions</a:t>
            </a:r>
            <a:endParaRPr lang="en-US" sz="700" dirty="0"/>
          </a:p>
        </p:txBody>
      </p:sp>
      <p:sp>
        <p:nvSpPr>
          <p:cNvPr id="108" name="Shape 99"/>
          <p:cNvSpPr/>
          <p:nvPr/>
        </p:nvSpPr>
        <p:spPr>
          <a:xfrm>
            <a:off x="4754880" y="4370832"/>
            <a:ext cx="4114800" cy="411480"/>
          </a:xfrm>
          <a:prstGeom prst="rect">
            <a:avLst/>
          </a:prstGeom>
          <a:solidFill>
            <a:srgbClr val="002C77"/>
          </a:solidFill>
          <a:ln/>
        </p:spPr>
      </p:sp>
      <p:pic>
        <p:nvPicPr>
          <p:cNvPr id="10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4425696"/>
            <a:ext cx="201168" cy="201168"/>
          </a:xfrm>
          <a:prstGeom prst="rect">
            <a:avLst/>
          </a:prstGeom>
        </p:spPr>
      </p:pic>
      <p:sp>
        <p:nvSpPr>
          <p:cNvPr id="110" name="Text 100"/>
          <p:cNvSpPr/>
          <p:nvPr/>
        </p:nvSpPr>
        <p:spPr>
          <a:xfrm>
            <a:off x="5120640" y="43708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Middleware: CSP · X-Frame-Options · XSS Protection · SASL/SSL Kafka · NextAuth JWT</a:t>
            </a:r>
            <a:endParaRPr lang="en-US" sz="750" dirty="0"/>
          </a:p>
        </p:txBody>
      </p:sp>
      <p:sp>
        <p:nvSpPr>
          <p:cNvPr id="111" name="Text 10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9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Oliver Wyman</a:t>
            </a:r>
            <a:endParaRPr lang="en-US" sz="800" dirty="0"/>
          </a:p>
        </p:txBody>
      </p:sp>
      <p:sp>
        <p:nvSpPr>
          <p:cNvPr id="112" name="Text 102"/>
          <p:cNvSpPr/>
          <p:nvPr/>
        </p:nvSpPr>
        <p:spPr>
          <a:xfrm>
            <a:off x="822960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9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OWBANK – Integration Layer Architecture</dc:title>
  <dc:subject>PptxGenJS Presentation</dc:subject>
  <dc:creator>Oliver Wyman</dc:creator>
  <cp:lastModifiedBy>Oliver Wyman</cp:lastModifiedBy>
  <cp:revision>1</cp:revision>
  <dcterms:created xsi:type="dcterms:W3CDTF">2026-02-25T17:35:36Z</dcterms:created>
  <dcterms:modified xsi:type="dcterms:W3CDTF">2026-02-25T17:35:36Z</dcterms:modified>
</cp:coreProperties>
</file>